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75E54"/>
          </a:solidFill>
          <a:ln w="12700">
            <a:solidFill>
              <a:srgbClr val="075E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D3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Awesist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286000" y="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Simple, Honest Pricing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0" y="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DCF8C6"/>
                </a:solidFill>
              </a:rPr>
              <a:t>30-day free trial on all plans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0" y="65836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F8C8D"/>
                </a:solidFill>
              </a:rPr>
              <a:t>Choose the plan that fits your business. Cancel anytime.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26517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203200" dist="76200" dir="81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005840"/>
            <a:ext cx="2651760" cy="1097280"/>
          </a:xfrm>
          <a:prstGeom prst="rect">
            <a:avLst/>
          </a:prstGeom>
          <a:solidFill>
            <a:srgbClr val="128C7E"/>
          </a:solidFill>
          <a:ln w="12700">
            <a:solidFill>
              <a:srgbClr val="128C7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11556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Starter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20040" y="148132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₹</a:t>
            </a:r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299</a:t>
            </a:r>
            <a:pPr algn="ctr" indent="0" marL="0">
              <a:buNone/>
            </a:pPr>
            <a:r>
              <a:rPr lang="en-US" sz="1000" dirty="0">
                <a:solidFill>
                  <a:srgbClr val="CCEECC"/>
                </a:solidFill>
              </a:rPr>
              <a:t>/mo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" y="19659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CCEECC"/>
                </a:solidFill>
              </a:rPr>
              <a:t>Perfect for getting started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760" y="2176272"/>
            <a:ext cx="2560320" cy="32004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240280"/>
            <a:ext cx="201168" cy="201168"/>
          </a:xfrm>
          <a:prstGeom prst="ellipse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2402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04088" y="2212848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500 reminders / month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587752"/>
            <a:ext cx="201168" cy="201168"/>
          </a:xfrm>
          <a:prstGeom prst="ellipse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5877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04088" y="2560320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Morning summary (daily)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2871216"/>
            <a:ext cx="2560320" cy="32004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935224"/>
            <a:ext cx="201168" cy="201168"/>
          </a:xfrm>
          <a:prstGeom prst="ellipse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9352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04088" y="2907792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Payment &amp; balance tracking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282696"/>
            <a:ext cx="201168" cy="201168"/>
          </a:xfrm>
          <a:prstGeom prst="ellipse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2826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04088" y="3255264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Monthly earnings report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3566160"/>
            <a:ext cx="2560320" cy="32004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630168"/>
            <a:ext cx="201168" cy="201168"/>
          </a:xfrm>
          <a:prstGeom prst="ellipse">
            <a:avLst/>
          </a:prstGeom>
          <a:solidFill>
            <a:srgbClr val="FFCCC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6301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74C3C"/>
                </a:solidFill>
              </a:rPr>
              <a:t>✗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04088" y="3602736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F8C8D"/>
                </a:solidFill>
              </a:rPr>
              <a:t>Customer WhatsApp alerts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3977640"/>
            <a:ext cx="201168" cy="201168"/>
          </a:xfrm>
          <a:prstGeom prst="ellipse">
            <a:avLst/>
          </a:prstGeom>
          <a:solidFill>
            <a:srgbClr val="FFCCC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9776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74C3C"/>
                </a:solidFill>
              </a:rPr>
              <a:t>✗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04088" y="3950208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F8C8D"/>
                </a:solidFill>
              </a:rPr>
              <a:t>Priority support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65760" y="4261104"/>
            <a:ext cx="2560320" cy="32004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4325112"/>
            <a:ext cx="201168" cy="201168"/>
          </a:xfrm>
          <a:prstGeom prst="ellipse">
            <a:avLst/>
          </a:prstGeom>
          <a:solidFill>
            <a:srgbClr val="FFCCC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3251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74C3C"/>
                </a:solidFill>
              </a:rPr>
              <a:t>✗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04088" y="4297680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F8C8D"/>
                </a:solidFill>
              </a:rPr>
              <a:t>Multi-device access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94360" y="4206240"/>
            <a:ext cx="2103120" cy="384048"/>
          </a:xfrm>
          <a:prstGeom prst="rect">
            <a:avLst/>
          </a:prstGeom>
          <a:solidFill>
            <a:srgbClr val="128C7E"/>
          </a:solidFill>
          <a:ln w="12700">
            <a:solidFill>
              <a:srgbClr val="128C7E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94360" y="42062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Start Free Trial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46120" y="868680"/>
            <a:ext cx="2651760" cy="4114800"/>
          </a:xfrm>
          <a:prstGeom prst="rect">
            <a:avLst/>
          </a:prstGeom>
          <a:solidFill>
            <a:srgbClr val="FFFFFF"/>
          </a:solidFill>
          <a:ln w="31750">
            <a:solidFill>
              <a:srgbClr val="075E54"/>
            </a:solidFill>
            <a:prstDash val="solid"/>
          </a:ln>
          <a:effectLst>
            <a:outerShdw sx="100000" sy="100000" kx="0" ky="0" algn="bl" rotWithShape="0" blurRad="203200" dist="76200" dir="8100000">
              <a:srgbClr val="000000">
                <a:alpha val="13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246120" y="868680"/>
            <a:ext cx="2651760" cy="1234440"/>
          </a:xfrm>
          <a:prstGeom prst="rect">
            <a:avLst/>
          </a:prstGeom>
          <a:solidFill>
            <a:srgbClr val="075E54"/>
          </a:solidFill>
          <a:ln w="12700">
            <a:solidFill>
              <a:srgbClr val="075E5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886200" y="621792"/>
            <a:ext cx="1371600" cy="2926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3886200" y="62179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</a:rPr>
              <a:t>MOST POPULAR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3246120" y="97840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3246120" y="134416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₹</a:t>
            </a:r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799</a:t>
            </a:r>
            <a:pPr algn="ctr" indent="0" marL="0">
              <a:buNone/>
            </a:pPr>
            <a:r>
              <a:rPr lang="en-US" sz="1000" dirty="0">
                <a:solidFill>
                  <a:srgbClr val="DCF8C6"/>
                </a:solidFill>
              </a:rPr>
              <a:t>/mo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3337560" y="18288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DCF8C6"/>
                </a:solidFill>
              </a:rPr>
              <a:t>Most popular for active businesses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291840" y="2167128"/>
            <a:ext cx="2560320" cy="32004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383280" y="2231136"/>
            <a:ext cx="201168" cy="201168"/>
          </a:xfrm>
          <a:prstGeom prst="ellipse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383280" y="22311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3630168" y="2203704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2,000 reminders / month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383280" y="2578608"/>
            <a:ext cx="201168" cy="201168"/>
          </a:xfrm>
          <a:prstGeom prst="ellipse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383280" y="25786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3630168" y="2551176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Morning summary (daily)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291840" y="2862072"/>
            <a:ext cx="2560320" cy="32004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383280" y="2926080"/>
            <a:ext cx="201168" cy="201168"/>
          </a:xfrm>
          <a:prstGeom prst="ellipse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83280" y="29260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3630168" y="2898648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Payment &amp; balance tracking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383280" y="3273552"/>
            <a:ext cx="201168" cy="201168"/>
          </a:xfrm>
          <a:prstGeom prst="ellipse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383280" y="32735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3630168" y="3246120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Monthly earnings report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291840" y="3557016"/>
            <a:ext cx="2560320" cy="32004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383280" y="3621024"/>
            <a:ext cx="201168" cy="201168"/>
          </a:xfrm>
          <a:prstGeom prst="ellipse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383280" y="36210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3630168" y="3593592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Customer WhatsApp alerts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3383280" y="3968496"/>
            <a:ext cx="201168" cy="201168"/>
          </a:xfrm>
          <a:prstGeom prst="ellipse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383280" y="39684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3630168" y="3941064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Priority WhatsApp support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3291840" y="4251960"/>
            <a:ext cx="2560320" cy="32004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383280" y="4315968"/>
            <a:ext cx="201168" cy="201168"/>
          </a:xfrm>
          <a:prstGeom prst="ellipse">
            <a:avLst/>
          </a:prstGeom>
          <a:solidFill>
            <a:srgbClr val="FFCCC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383280" y="43159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74C3C"/>
                </a:solidFill>
              </a:rPr>
              <a:t>✗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3630168" y="4288536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F8C8D"/>
                </a:solidFill>
              </a:rPr>
              <a:t>Multi-device access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3520440" y="4206240"/>
            <a:ext cx="2103120" cy="384048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72" name="Text 70"/>
          <p:cNvSpPr/>
          <p:nvPr/>
        </p:nvSpPr>
        <p:spPr>
          <a:xfrm>
            <a:off x="3520440" y="42062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75E54"/>
                </a:solidFill>
              </a:rPr>
              <a:t>Start Free Trial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6172200" y="1005840"/>
            <a:ext cx="26517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203200" dist="76200" dir="8100000">
              <a:srgbClr val="000000">
                <a:alpha val="13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6172200" y="1005840"/>
            <a:ext cx="2651760" cy="109728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172200" y="111556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Unlimited</a:t>
            </a:r>
            <a:endParaRPr lang="en-US" sz="1800" dirty="0"/>
          </a:p>
        </p:txBody>
      </p:sp>
      <p:sp>
        <p:nvSpPr>
          <p:cNvPr id="76" name="Text 74"/>
          <p:cNvSpPr/>
          <p:nvPr/>
        </p:nvSpPr>
        <p:spPr>
          <a:xfrm>
            <a:off x="6172200" y="148132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₹</a:t>
            </a:r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1,999</a:t>
            </a:r>
            <a:pPr algn="ctr" indent="0" marL="0">
              <a:buNone/>
            </a:pPr>
            <a:r>
              <a:rPr lang="en-US" sz="1000" dirty="0">
                <a:solidFill>
                  <a:srgbClr val="CCEECC"/>
                </a:solidFill>
              </a:rPr>
              <a:t>/mo</a:t>
            </a:r>
            <a:endParaRPr lang="en-US" sz="1400" dirty="0"/>
          </a:p>
        </p:txBody>
      </p:sp>
      <p:sp>
        <p:nvSpPr>
          <p:cNvPr id="77" name="Text 75"/>
          <p:cNvSpPr/>
          <p:nvPr/>
        </p:nvSpPr>
        <p:spPr>
          <a:xfrm>
            <a:off x="6263640" y="19659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CCEECC"/>
                </a:solidFill>
              </a:rPr>
              <a:t>For power users &amp; large teams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6217920" y="2176272"/>
            <a:ext cx="2560320" cy="32004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309360" y="2240280"/>
            <a:ext cx="201168" cy="201168"/>
          </a:xfrm>
          <a:prstGeom prst="ellipse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309360" y="22402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6556248" y="2212848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Unlimited reminders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309360" y="2587752"/>
            <a:ext cx="201168" cy="201168"/>
          </a:xfrm>
          <a:prstGeom prst="ellipse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309360" y="25877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6556248" y="2560320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Morning summary (daily)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6217920" y="2871216"/>
            <a:ext cx="2560320" cy="32004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309360" y="2935224"/>
            <a:ext cx="201168" cy="201168"/>
          </a:xfrm>
          <a:prstGeom prst="ellipse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309360" y="29352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6556248" y="2907792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Payment &amp; balance tracking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6309360" y="3282696"/>
            <a:ext cx="201168" cy="201168"/>
          </a:xfrm>
          <a:prstGeom prst="ellipse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309360" y="32826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6556248" y="3255264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Monthly earnings report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6217920" y="3566160"/>
            <a:ext cx="2560320" cy="32004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309360" y="3630168"/>
            <a:ext cx="201168" cy="201168"/>
          </a:xfrm>
          <a:prstGeom prst="ellipse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309360" y="36301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95" name="Text 93"/>
          <p:cNvSpPr/>
          <p:nvPr/>
        </p:nvSpPr>
        <p:spPr>
          <a:xfrm>
            <a:off x="6556248" y="3602736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Customer WhatsApp alerts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6309360" y="3977640"/>
            <a:ext cx="201168" cy="201168"/>
          </a:xfrm>
          <a:prstGeom prst="ellipse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309360" y="39776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98" name="Text 96"/>
          <p:cNvSpPr/>
          <p:nvPr/>
        </p:nvSpPr>
        <p:spPr>
          <a:xfrm>
            <a:off x="6556248" y="3950208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Dedicated support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6217920" y="4261104"/>
            <a:ext cx="2560320" cy="32004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6309360" y="4325112"/>
            <a:ext cx="201168" cy="201168"/>
          </a:xfrm>
          <a:prstGeom prst="ellipse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309360" y="43251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102" name="Text 100"/>
          <p:cNvSpPr/>
          <p:nvPr/>
        </p:nvSpPr>
        <p:spPr>
          <a:xfrm>
            <a:off x="6556248" y="4297680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Multi-device access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6446520" y="4206240"/>
            <a:ext cx="2103120" cy="38404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04" name="Text 102"/>
          <p:cNvSpPr/>
          <p:nvPr/>
        </p:nvSpPr>
        <p:spPr>
          <a:xfrm>
            <a:off x="6446520" y="42062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Start Free Trial</a:t>
            </a:r>
            <a:endParaRPr lang="en-US" sz="1000" dirty="0"/>
          </a:p>
        </p:txBody>
      </p:sp>
      <p:sp>
        <p:nvSpPr>
          <p:cNvPr id="105" name="Text 103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5A5A6"/>
                </a:solidFill>
              </a:rPr>
              <a:t>All plans include a 30-day free trial  ·  No credit card required  ·  Cancel anytime  ·  Prices in INR incl. GST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75E54"/>
          </a:solidFill>
          <a:ln w="12700">
            <a:solidFill>
              <a:srgbClr val="075E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D3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Awesist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Full Feature Comparison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594360"/>
            <a:ext cx="3474720" cy="475488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9436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Feature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840480" y="594360"/>
            <a:ext cx="1600200" cy="475488"/>
          </a:xfrm>
          <a:prstGeom prst="rect">
            <a:avLst/>
          </a:prstGeom>
          <a:solidFill>
            <a:srgbClr val="128C7E"/>
          </a:solidFill>
          <a:ln w="12700">
            <a:solidFill>
              <a:srgbClr val="128C7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0" y="59436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Starter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₹299/mo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532120" y="594360"/>
            <a:ext cx="1600200" cy="475488"/>
          </a:xfrm>
          <a:prstGeom prst="rect">
            <a:avLst/>
          </a:prstGeom>
          <a:solidFill>
            <a:srgbClr val="075E54"/>
          </a:solidFill>
          <a:ln w="12700">
            <a:solidFill>
              <a:srgbClr val="075E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32120" y="59436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₹799/mo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223760" y="594360"/>
            <a:ext cx="1783080" cy="47548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23760" y="59436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Unlimited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₹1,999/mo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1143000"/>
            <a:ext cx="8732520" cy="256032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14300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28C7E"/>
                </a:solidFill>
              </a:rPr>
              <a:t>CORE FEATURES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74320" y="1399032"/>
            <a:ext cx="873252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1399032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Reminders / month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794760" y="1399032"/>
            <a:ext cx="0" cy="292608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0" y="139903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500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532120" y="139903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2,000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223760" y="139903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Unlimited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74320" y="1691640"/>
            <a:ext cx="8732520" cy="292608"/>
          </a:xfrm>
          <a:prstGeom prst="rect">
            <a:avLst/>
          </a:prstGeom>
          <a:solidFill>
            <a:srgbClr val="F2F4F7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1691640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Order &amp; appointment tracking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794760" y="1691640"/>
            <a:ext cx="0" cy="292608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0" y="169164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D366"/>
                </a:solidFill>
              </a:rPr>
              <a:t>✓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532120" y="169164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D366"/>
                </a:solidFill>
              </a:rPr>
              <a:t>✓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223760" y="169164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D366"/>
                </a:solidFill>
              </a:rPr>
              <a:t>✓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1984248"/>
            <a:ext cx="873252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1984248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Morning daily summary (8 AM)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794760" y="1984248"/>
            <a:ext cx="0" cy="292608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0" y="198424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D366"/>
                </a:solidFill>
              </a:rPr>
              <a:t>✓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532120" y="198424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D366"/>
                </a:solidFill>
              </a:rPr>
              <a:t>✓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223760" y="198424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D366"/>
                </a:solidFill>
              </a:rPr>
              <a:t>✓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74320" y="2276856"/>
            <a:ext cx="8732520" cy="292608"/>
          </a:xfrm>
          <a:prstGeom prst="rect">
            <a:avLst/>
          </a:prstGeom>
          <a:solidFill>
            <a:srgbClr val="F2F4F7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4048" y="2276856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Natural language input (Hinglish)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794760" y="2276856"/>
            <a:ext cx="0" cy="292608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40480" y="227685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D366"/>
                </a:solidFill>
              </a:rPr>
              <a:t>✓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532120" y="227685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D366"/>
                </a:solidFill>
              </a:rPr>
              <a:t>✓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223760" y="2276856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D366"/>
                </a:solidFill>
              </a:rPr>
              <a:t>✓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74320" y="2569464"/>
            <a:ext cx="873252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4048" y="2569464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Edit &amp; delete reminders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794760" y="2569464"/>
            <a:ext cx="0" cy="292608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40480" y="256946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D366"/>
                </a:solidFill>
              </a:rPr>
              <a:t>✓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532120" y="256946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D366"/>
                </a:solidFill>
              </a:rPr>
              <a:t>✓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223760" y="2569464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D366"/>
                </a:solidFill>
              </a:rPr>
              <a:t>✓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74320" y="2862072"/>
            <a:ext cx="8732520" cy="256032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286207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28C7E"/>
                </a:solidFill>
              </a:rPr>
              <a:t>PAYMENTS &amp; INCOME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74320" y="3118104"/>
            <a:ext cx="8732520" cy="292608"/>
          </a:xfrm>
          <a:prstGeom prst="rect">
            <a:avLst/>
          </a:prstGeom>
          <a:solidFill>
            <a:srgbClr val="F2F4F7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84048" y="3118104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Payment &amp; balance tracking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794760" y="3118104"/>
            <a:ext cx="0" cy="292608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840480" y="311810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D366"/>
                </a:solidFill>
              </a:rPr>
              <a:t>✓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532120" y="311810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D366"/>
                </a:solidFill>
              </a:rPr>
              <a:t>✓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223760" y="3118104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D366"/>
                </a:solidFill>
              </a:rPr>
              <a:t>✓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274320" y="3410712"/>
            <a:ext cx="873252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84048" y="3410712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Mark payments as collected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794760" y="3410712"/>
            <a:ext cx="0" cy="292608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840480" y="341071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D366"/>
                </a:solidFill>
              </a:rPr>
              <a:t>✓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532120" y="341071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D366"/>
                </a:solidFill>
              </a:rPr>
              <a:t>✓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7223760" y="341071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D366"/>
                </a:solidFill>
              </a:rPr>
              <a:t>✓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274320" y="3703320"/>
            <a:ext cx="8732520" cy="292608"/>
          </a:xfrm>
          <a:prstGeom prst="rect">
            <a:avLst/>
          </a:prstGeom>
          <a:solidFill>
            <a:srgbClr val="F2F4F7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84048" y="3703320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Monthly earnings report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3794760" y="3703320"/>
            <a:ext cx="0" cy="292608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840480" y="370332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D366"/>
                </a:solidFill>
              </a:rPr>
              <a:t>✓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5532120" y="370332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D366"/>
                </a:solidFill>
              </a:rPr>
              <a:t>✓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7223760" y="370332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D366"/>
                </a:solidFill>
              </a:rPr>
              <a:t>✓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274320" y="3995928"/>
            <a:ext cx="873252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84048" y="3995928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Top customer insights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3794760" y="3995928"/>
            <a:ext cx="0" cy="292608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840480" y="399592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D366"/>
                </a:solidFill>
              </a:rPr>
              <a:t>✓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5532120" y="399592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D366"/>
                </a:solidFill>
              </a:rPr>
              <a:t>✓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7223760" y="399592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D366"/>
                </a:solidFill>
              </a:rPr>
              <a:t>✓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274320" y="4288536"/>
            <a:ext cx="8732520" cy="256032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65760" y="4288536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28C7E"/>
                </a:solidFill>
              </a:rPr>
              <a:t>CUSTOMER NOTIFICATIONS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274320" y="4544568"/>
            <a:ext cx="8732520" cy="292608"/>
          </a:xfrm>
          <a:prstGeom prst="rect">
            <a:avLst/>
          </a:prstGeom>
          <a:solidFill>
            <a:srgbClr val="F2F4F7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84048" y="4544568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Customer WhatsApp reminders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3794760" y="4544568"/>
            <a:ext cx="0" cy="292608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840480" y="454456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74C3C"/>
                </a:solidFill>
              </a:rPr>
              <a:t>✗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5532120" y="454456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D366"/>
                </a:solidFill>
              </a:rPr>
              <a:t>✓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7223760" y="454456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D366"/>
                </a:solidFill>
              </a:rPr>
              <a:t>✓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274320" y="4837176"/>
            <a:ext cx="873252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84048" y="4837176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Business-type specific messages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3794760" y="4837176"/>
            <a:ext cx="0" cy="292608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840480" y="483717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74C3C"/>
                </a:solidFill>
              </a:rPr>
              <a:t>✗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5532120" y="483717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D366"/>
                </a:solidFill>
              </a:rPr>
              <a:t>✓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7223760" y="4837176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D366"/>
                </a:solidFill>
              </a:rPr>
              <a:t>✓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274320" y="5129784"/>
            <a:ext cx="8732520" cy="256032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65760" y="5129784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28C7E"/>
                </a:solidFill>
              </a:rPr>
              <a:t>SUPPORT &amp; ACCESS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274320" y="5385816"/>
            <a:ext cx="8732520" cy="292608"/>
          </a:xfrm>
          <a:prstGeom prst="rect">
            <a:avLst/>
          </a:prstGeom>
          <a:solidFill>
            <a:srgbClr val="F2F4F7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384048" y="5385816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WhatsApp support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3794760" y="5385816"/>
            <a:ext cx="0" cy="292608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840480" y="538581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Basic</a:t>
            </a:r>
            <a:endParaRPr lang="en-US" sz="850" dirty="0"/>
          </a:p>
        </p:txBody>
      </p:sp>
      <p:sp>
        <p:nvSpPr>
          <p:cNvPr id="91" name="Text 89"/>
          <p:cNvSpPr/>
          <p:nvPr/>
        </p:nvSpPr>
        <p:spPr>
          <a:xfrm>
            <a:off x="5532120" y="538581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Priority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7223760" y="5385816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Dedicated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274320" y="5678424"/>
            <a:ext cx="873252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384048" y="5678424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Multi-device access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3794760" y="5678424"/>
            <a:ext cx="0" cy="292608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3840480" y="567842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74C3C"/>
                </a:solidFill>
              </a:rPr>
              <a:t>✗</a:t>
            </a:r>
            <a:endParaRPr lang="en-US" sz="1100" dirty="0"/>
          </a:p>
        </p:txBody>
      </p:sp>
      <p:sp>
        <p:nvSpPr>
          <p:cNvPr id="97" name="Text 95"/>
          <p:cNvSpPr/>
          <p:nvPr/>
        </p:nvSpPr>
        <p:spPr>
          <a:xfrm>
            <a:off x="5532120" y="567842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74C3C"/>
                </a:solidFill>
              </a:rPr>
              <a:t>✗</a:t>
            </a:r>
            <a:endParaRPr lang="en-US" sz="1100" dirty="0"/>
          </a:p>
        </p:txBody>
      </p:sp>
      <p:sp>
        <p:nvSpPr>
          <p:cNvPr id="98" name="Text 96"/>
          <p:cNvSpPr/>
          <p:nvPr/>
        </p:nvSpPr>
        <p:spPr>
          <a:xfrm>
            <a:off x="7223760" y="5678424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D366"/>
                </a:solidFill>
              </a:rPr>
              <a:t>✓</a:t>
            </a:r>
            <a:endParaRPr lang="en-US" sz="1100" dirty="0"/>
          </a:p>
        </p:txBody>
      </p:sp>
      <p:sp>
        <p:nvSpPr>
          <p:cNvPr id="99" name="Shape 97"/>
          <p:cNvSpPr/>
          <p:nvPr/>
        </p:nvSpPr>
        <p:spPr>
          <a:xfrm>
            <a:off x="274320" y="5971032"/>
            <a:ext cx="8732520" cy="292608"/>
          </a:xfrm>
          <a:prstGeom prst="rect">
            <a:avLst/>
          </a:prstGeom>
          <a:solidFill>
            <a:srgbClr val="F2F4F7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384048" y="5971032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Data export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3794760" y="5971032"/>
            <a:ext cx="0" cy="292608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3840480" y="597103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74C3C"/>
                </a:solidFill>
              </a:rPr>
              <a:t>✗</a:t>
            </a:r>
            <a:endParaRPr lang="en-US" sz="1100" dirty="0"/>
          </a:p>
        </p:txBody>
      </p:sp>
      <p:sp>
        <p:nvSpPr>
          <p:cNvPr id="103" name="Text 101"/>
          <p:cNvSpPr/>
          <p:nvPr/>
        </p:nvSpPr>
        <p:spPr>
          <a:xfrm>
            <a:off x="5532120" y="597103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D366"/>
                </a:solidFill>
              </a:rPr>
              <a:t>✓</a:t>
            </a:r>
            <a:endParaRPr lang="en-US" sz="1100" dirty="0"/>
          </a:p>
        </p:txBody>
      </p:sp>
      <p:sp>
        <p:nvSpPr>
          <p:cNvPr id="104" name="Text 102"/>
          <p:cNvSpPr/>
          <p:nvPr/>
        </p:nvSpPr>
        <p:spPr>
          <a:xfrm>
            <a:off x="7223760" y="597103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D366"/>
                </a:solidFill>
              </a:rPr>
              <a:t>✓</a:t>
            </a:r>
            <a:endParaRPr lang="en-US" sz="1100" dirty="0"/>
          </a:p>
        </p:txBody>
      </p:sp>
      <p:sp>
        <p:nvSpPr>
          <p:cNvPr id="105" name="Shape 103"/>
          <p:cNvSpPr/>
          <p:nvPr/>
        </p:nvSpPr>
        <p:spPr>
          <a:xfrm>
            <a:off x="3794760" y="594360"/>
            <a:ext cx="0" cy="566928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440680" y="594360"/>
            <a:ext cx="0" cy="566928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7132320" y="594360"/>
            <a:ext cx="0" cy="566928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5669280" y="6336792"/>
            <a:ext cx="1325880" cy="256032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09" name="Text 107"/>
          <p:cNvSpPr/>
          <p:nvPr/>
        </p:nvSpPr>
        <p:spPr>
          <a:xfrm>
            <a:off x="5669280" y="633679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075E54"/>
                </a:solidFill>
              </a:rPr>
              <a:t>BEST VALUE</a:t>
            </a:r>
            <a:endParaRPr lang="en-US" sz="750" dirty="0"/>
          </a:p>
        </p:txBody>
      </p:sp>
      <p:sp>
        <p:nvSpPr>
          <p:cNvPr id="110" name="Text 108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5A5A6"/>
                </a:solidFill>
              </a:rPr>
              <a:t>All plans start with a 30-day free trial  ·  No card required  ·  awesist.duckdns.org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5E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457200"/>
            <a:ext cx="2743200" cy="2743200"/>
          </a:xfrm>
          <a:prstGeom prst="ellipse">
            <a:avLst/>
          </a:prstGeom>
          <a:solidFill>
            <a:srgbClr val="128C7E">
              <a:alpha val="25000"/>
            </a:srgbClr>
          </a:solidFill>
          <a:ln w="12700">
            <a:solidFill>
              <a:srgbClr val="128C7E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25D366">
              <a:alpha val="20000"/>
            </a:srgbClr>
          </a:solidFill>
          <a:ln w="12700">
            <a:solidFill>
              <a:srgbClr val="25D366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Is it worth it?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CF8C6"/>
                </a:solidFill>
              </a:rPr>
              <a:t>Here's what Awesist saves you vs. the cost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920240" cy="1371600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  <a:effectLst>
            <a:outerShdw sx="100000" sy="100000" kx="0" ky="0" algn="bl" rotWithShape="0" blurRad="203200" dist="76200" dir="81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38988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75E5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₹12,500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75E54"/>
                </a:solidFill>
              </a:rPr>
              <a:t>avg monthly collections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223113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075E54"/>
                </a:solidFill>
              </a:rPr>
              <a:t>per vendor on trial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542032" y="1325880"/>
            <a:ext cx="1920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03200" dist="76200" dir="81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42032" y="138988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75E5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₹799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542032" y="1920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75E54"/>
                </a:solidFill>
              </a:rPr>
              <a:t>Pro plan cost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542032" y="223113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075E54"/>
                </a:solidFill>
              </a:rPr>
              <a:t>= 6.4% of collections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626864" y="1325880"/>
            <a:ext cx="1920240" cy="13716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  <a:effectLst>
            <a:outerShdw sx="100000" sy="100000" kx="0" ky="0" algn="bl" rotWithShape="0" blurRad="203200" dist="76200" dir="81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26864" y="138988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75E5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3–5 hrs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626864" y="1920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75E54"/>
                </a:solidFill>
              </a:rPr>
              <a:t>saved per week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626864" y="223113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075E54"/>
                </a:solidFill>
              </a:rPr>
              <a:t>no manual tracking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711696" y="1325880"/>
            <a:ext cx="1920240" cy="1371600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  <a:effectLst>
            <a:outerShdw sx="100000" sy="100000" kx="0" ky="0" algn="bl" rotWithShape="0" blurRad="203200" dist="76200" dir="810000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11696" y="138988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75E5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₹0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711696" y="1920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75E54"/>
                </a:solidFill>
              </a:rPr>
              <a:t>missed payments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711696" y="223113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075E54"/>
                </a:solidFill>
              </a:rPr>
              <a:t>with reminders on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" y="2880360"/>
            <a:ext cx="8321040" cy="36576"/>
          </a:xfrm>
          <a:prstGeom prst="rect">
            <a:avLst/>
          </a:prstGeom>
          <a:solidFill>
            <a:srgbClr val="128C7E">
              <a:alpha val="50000"/>
            </a:srgbClr>
          </a:solidFill>
          <a:ln w="12700">
            <a:solidFill>
              <a:srgbClr val="128C7E">
                <a:alpha val="5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017520"/>
            <a:ext cx="1920240" cy="777240"/>
          </a:xfrm>
          <a:prstGeom prst="rect">
            <a:avLst/>
          </a:prstGeom>
          <a:solidFill>
            <a:srgbClr val="1A3A35"/>
          </a:solidFill>
          <a:ln w="12700">
            <a:solidFill>
              <a:srgbClr val="128C7E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57200" y="3044952"/>
            <a:ext cx="19202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Missed order reminder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57200" y="34015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74C3C"/>
                </a:solidFill>
              </a:rPr>
              <a:t>Lost ₹500–2,000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542032" y="3017520"/>
            <a:ext cx="1920240" cy="777240"/>
          </a:xfrm>
          <a:prstGeom prst="rect">
            <a:avLst/>
          </a:prstGeom>
          <a:solidFill>
            <a:srgbClr val="1A3A35"/>
          </a:solidFill>
          <a:ln w="12700">
            <a:solidFill>
              <a:srgbClr val="128C7E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542032" y="3044952"/>
            <a:ext cx="19202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Manual notepad tracking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542032" y="34015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74C3C"/>
                </a:solidFill>
              </a:rPr>
              <a:t>2 hrs/day wasted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26864" y="3017520"/>
            <a:ext cx="1920240" cy="777240"/>
          </a:xfrm>
          <a:prstGeom prst="rect">
            <a:avLst/>
          </a:prstGeom>
          <a:solidFill>
            <a:srgbClr val="1A3A35"/>
          </a:solidFill>
          <a:ln w="12700">
            <a:solidFill>
              <a:srgbClr val="128C7E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626864" y="3044952"/>
            <a:ext cx="19202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Forgotten customer follow-up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626864" y="34015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74C3C"/>
                </a:solidFill>
              </a:rPr>
              <a:t>Lost repeat business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711696" y="3017520"/>
            <a:ext cx="1920240" cy="777240"/>
          </a:xfrm>
          <a:prstGeom prst="rect">
            <a:avLst/>
          </a:prstGeom>
          <a:solidFill>
            <a:srgbClr val="25D366"/>
          </a:solidFill>
          <a:ln w="25400">
            <a:solidFill>
              <a:srgbClr val="25D366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711696" y="3044952"/>
            <a:ext cx="19202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75E54"/>
                </a:solidFill>
              </a:rPr>
              <a:t>Awesist Pro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711696" y="34015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75E54"/>
                </a:solidFill>
              </a:rPr>
              <a:t>₹26/day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397764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D366"/>
                </a:solidFill>
              </a:rPr>
              <a:t>Start your 30-day free trial — no card needed.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57200" y="431596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CF8C6"/>
                </a:solidFill>
              </a:rPr>
              <a:t>Just send a WhatsApp message to get started.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477316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5A5A6"/>
                </a:solidFill>
              </a:rPr>
              <a:t>Less than a cup of chai a day. 🍵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Awesist Pricing Plans</dc:title>
  <dc:subject>PptxGenJS Presentation</dc:subject>
  <dc:creator>PptxGenJS</dc:creator>
  <cp:lastModifiedBy>PptxGenJS</cp:lastModifiedBy>
  <cp:revision>1</cp:revision>
  <dcterms:created xsi:type="dcterms:W3CDTF">2026-03-30T14:55:09Z</dcterms:created>
  <dcterms:modified xsi:type="dcterms:W3CDTF">2026-03-30T14:55:09Z</dcterms:modified>
</cp:coreProperties>
</file>